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4025" y="914400"/>
            <a:ext cx="416812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C5B2"/>
                </a:solidFill>
                <a:latin typeface="Calibri"/>
              </a:defRPr>
            </a:pPr>
            <a:r>
              <a:rPr dirty="0"/>
              <a:t>REVIEW III – PANEL REVIEW | WORKING IMPLEMENTATION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AI-POWERED ENTERPRISE OPPORTUNITY-INTELLIGENCE &amp;</a:t>
            </a:r>
            <a:br/>
            <a:r>
              <a:t>STRATEGIC DECISION SUPPORT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9C5B2"/>
                </a:solidFill>
                <a:latin typeface="Calibri"/>
              </a:defRPr>
            </a:pPr>
            <a:r>
              <a:t>Autonomous Multi-Agent Orchestration, Deterministic Opportunity Scoring, and Enterprise Security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10362895" cy="2468880"/>
          </a:xfrm>
          <a:prstGeom prst="roundRect">
            <a:avLst/>
          </a:prstGeom>
          <a:solidFill>
            <a:srgbClr val="28322F"/>
          </a:solidFill>
          <a:ln w="12700">
            <a:solidFill>
              <a:srgbClr val="D9C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47548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C5B2"/>
                </a:solidFill>
              </a:defRPr>
            </a:pPr>
            <a:r>
              <a:rPr sz="1400" dirty="0"/>
              <a:t>PROJECT SUPERVISION &amp; INSTITUTION</a:t>
            </a:r>
          </a:p>
          <a:p>
            <a:pPr>
              <a:defRPr sz="1050"/>
            </a:pPr>
            <a:r>
              <a:rPr sz="1400" b="1" dirty="0">
                <a:solidFill>
                  <a:srgbClr val="FFFFFF"/>
                </a:solidFill>
              </a:rPr>
              <a:t>Project Guide: </a:t>
            </a:r>
            <a:r>
              <a:rPr sz="1400" dirty="0">
                <a:solidFill>
                  <a:srgbClr val="DCDCDC"/>
                </a:solidFill>
              </a:rPr>
              <a:t>Dr. Sandhya</a:t>
            </a:r>
          </a:p>
          <a:p>
            <a:pPr>
              <a:defRPr sz="1050"/>
            </a:pPr>
            <a:r>
              <a:rPr sz="1400" b="1" dirty="0">
                <a:solidFill>
                  <a:srgbClr val="FFFFFF"/>
                </a:solidFill>
              </a:rPr>
              <a:t>Department: </a:t>
            </a:r>
            <a:r>
              <a:rPr sz="1400" dirty="0">
                <a:solidFill>
                  <a:srgbClr val="DCDCDC"/>
                </a:solidFill>
              </a:rPr>
              <a:t>Computer Science and Engineering</a:t>
            </a:r>
          </a:p>
          <a:p>
            <a:pPr>
              <a:defRPr sz="1050"/>
            </a:pPr>
            <a:r>
              <a:rPr sz="1400" b="1" dirty="0">
                <a:solidFill>
                  <a:srgbClr val="FFFFFF"/>
                </a:solidFill>
              </a:rPr>
              <a:t>Domain: </a:t>
            </a:r>
            <a:r>
              <a:rPr sz="1400" dirty="0">
                <a:solidFill>
                  <a:srgbClr val="DCDCDC"/>
                </a:solidFill>
              </a:rPr>
              <a:t>Autonomous AI Agents, Financial NLP, &amp; RAG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657600"/>
            <a:ext cx="47548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C5B2"/>
                </a:solidFill>
              </a:defRPr>
            </a:pPr>
            <a:r>
              <a:rPr sz="1400" dirty="0"/>
              <a:t>PROJECT TEAM MEMBERS</a:t>
            </a:r>
          </a:p>
          <a:p>
            <a:pPr>
              <a:defRPr sz="1050"/>
            </a:pPr>
            <a:r>
              <a:rPr sz="1400" b="1" dirty="0">
                <a:solidFill>
                  <a:srgbClr val="FFFFFF"/>
                </a:solidFill>
              </a:rPr>
              <a:t>Sanjna S </a:t>
            </a:r>
            <a:r>
              <a:rPr sz="1400" dirty="0">
                <a:solidFill>
                  <a:srgbClr val="C8C8C8"/>
                </a:solidFill>
              </a:rPr>
              <a:t>(</a:t>
            </a:r>
            <a:r>
              <a:rPr lang="en-IN" sz="1400" dirty="0">
                <a:solidFill>
                  <a:srgbClr val="C8C8C8"/>
                </a:solidFill>
              </a:rPr>
              <a:t>23BCE1374)</a:t>
            </a:r>
            <a:endParaRPr sz="1400" dirty="0">
              <a:solidFill>
                <a:srgbClr val="C8C8C8"/>
              </a:solidFill>
            </a:endParaRPr>
          </a:p>
          <a:p>
            <a:pPr>
              <a:defRPr sz="1050"/>
            </a:pPr>
            <a:r>
              <a:rPr sz="1400" b="1" dirty="0">
                <a:solidFill>
                  <a:srgbClr val="FFFFFF"/>
                </a:solidFill>
              </a:rPr>
              <a:t>Akshara </a:t>
            </a:r>
            <a:r>
              <a:rPr sz="1400" dirty="0">
                <a:solidFill>
                  <a:srgbClr val="C8C8C8"/>
                </a:solidFill>
              </a:rPr>
              <a:t>(</a:t>
            </a:r>
            <a:r>
              <a:rPr lang="en-IN" sz="1400" dirty="0">
                <a:solidFill>
                  <a:srgbClr val="C8C8C8"/>
                </a:solidFill>
              </a:rPr>
              <a:t>23BCE1325)</a:t>
            </a:r>
          </a:p>
          <a:p>
            <a:pPr>
              <a:defRPr sz="1050"/>
            </a:pPr>
            <a:r>
              <a:rPr sz="1400" b="1" dirty="0">
                <a:solidFill>
                  <a:srgbClr val="FFFFFF"/>
                </a:solidFill>
              </a:rPr>
              <a:t>Kshirja V </a:t>
            </a:r>
            <a:r>
              <a:rPr sz="1400" dirty="0">
                <a:solidFill>
                  <a:srgbClr val="C8C8C8"/>
                </a:solidFill>
              </a:rPr>
              <a:t>(</a:t>
            </a:r>
            <a:r>
              <a:rPr lang="en-IN" sz="1400" dirty="0">
                <a:solidFill>
                  <a:srgbClr val="C8C8C8"/>
                </a:solidFill>
              </a:rPr>
              <a:t>23BCE5079)</a:t>
            </a:r>
            <a:endParaRPr sz="1400" dirty="0">
              <a:solidFill>
                <a:srgbClr val="C8C8C8"/>
              </a:solidFill>
            </a:endParaRPr>
          </a:p>
          <a:p>
            <a:pPr>
              <a:defRPr sz="1000" i="1">
                <a:solidFill>
                  <a:srgbClr val="D9C5B2"/>
                </a:solidFill>
              </a:defRPr>
            </a:pPr>
            <a:r>
              <a:rPr sz="1400" dirty="0"/>
              <a:t>Deliverables: Live Working Prototype, Public Repository, Empirical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D9C5B2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D9C5B2"/>
                </a:solidFill>
                <a:latin typeface="Calibri"/>
              </a:defRPr>
            </a:pPr>
            <a:r>
              <a:t>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1. MOTIVATION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Problem Statement &amp; Strategic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Transitioning Enterprise Intelligence from Retrospective Reporting to Prescriptive Strategic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540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423E"/>
                </a:solidFill>
                <a:latin typeface="Georgia"/>
              </a:defRPr>
            </a:pPr>
            <a:r>
              <a:t>The Descriptive Trap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Retrospective Bias: </a:t>
            </a:r>
            <a:r>
              <a:rPr>
                <a:solidFill>
                  <a:srgbClr val="2B2B2B"/>
                </a:solidFill>
              </a:rPr>
              <a:t>Existing corporate dashboards (Bloomberg, AlphaSense, FactSet) summarize historical filings and past quarterly earnings without forward projection.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Static News Feeds: </a:t>
            </a:r>
            <a:r>
              <a:rPr>
                <a:solidFill>
                  <a:srgbClr val="2B2B2B"/>
                </a:solidFill>
              </a:rPr>
              <a:t>Standard business intelligence tools inform executives 'what happened' rather than 'what transformation opportunities must be seized next.'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Lack of Strategic Synthesis: </a:t>
            </a:r>
            <a:r>
              <a:rPr>
                <a:solidFill>
                  <a:srgbClr val="2B2B2B"/>
                </a:solidFill>
              </a:rPr>
              <a:t>Data remains siloed between financial metrics and technology capability indicators, leaving leadership without actionable roadmaps.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62856" y="1783080"/>
            <a:ext cx="30540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423E"/>
                </a:solidFill>
                <a:latin typeface="Georgia"/>
              </a:defRPr>
            </a:pPr>
            <a:r>
              <a:t>The Enterprise Trilemma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Information Asymmetry: </a:t>
            </a:r>
            <a:r>
              <a:rPr>
                <a:solidFill>
                  <a:srgbClr val="2B2B2B"/>
                </a:solidFill>
              </a:rPr>
              <a:t>Manual analyst synthesis across SEC filings, news releases, and technology roadmaps requires hundreds of hours and remains incomplete.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Hallucination Vulnerability: </a:t>
            </a:r>
            <a:r>
              <a:rPr>
                <a:solidFill>
                  <a:srgbClr val="2B2B2B"/>
                </a:solidFill>
              </a:rPr>
              <a:t>Off-the-shelf generative LLMs hallucinate financial figures and corporate strategies at rates exceeding 25% without strict citation checks.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Security &amp; Compliance Exposure: </a:t>
            </a:r>
            <a:r>
              <a:rPr>
                <a:solidFill>
                  <a:srgbClr val="2B2B2B"/>
                </a:solidFill>
              </a:rPr>
              <a:t>Corporate queries expose proprietary strategy, lack prompt injection filtering, and ingest non-credible financial rumors.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2" y="1783080"/>
            <a:ext cx="30540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5423E"/>
                </a:solidFill>
                <a:latin typeface="Georgia"/>
              </a:defRPr>
            </a:pPr>
            <a:r>
              <a:t>The Autonomous Solution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LangGraph Multi-Agent DAG: </a:t>
            </a:r>
            <a:r>
              <a:rPr>
                <a:solidFill>
                  <a:srgbClr val="2B2B2B"/>
                </a:solidFill>
              </a:rPr>
              <a:t>Orchestrates 5 specialized domain agents (News, Financial, Risk, Opportunity, Strategy) with deterministic acyclic flow.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Mathematical Opportunity Rates: </a:t>
            </a:r>
            <a:r>
              <a:rPr>
                <a:solidFill>
                  <a:srgbClr val="2B2B2B"/>
                </a:solidFill>
              </a:rPr>
              <a:t>Formulates domain-specific opportunity scores across Cloud, AI, Cyber, Modernization, and Data Infrastructure.</a:t>
            </a:r>
          </a:p>
          <a:p>
            <a:pPr>
              <a:spcAft>
                <a:spcPts val="800"/>
              </a:spcAft>
              <a:defRPr sz="1000"/>
            </a:pPr>
            <a:r>
              <a:rPr b="1">
                <a:solidFill>
                  <a:srgbClr val="2B2B2B"/>
                </a:solidFill>
              </a:rPr>
              <a:t>Zero-Hallucination Guardrails: </a:t>
            </a:r>
            <a:r>
              <a:rPr>
                <a:solidFill>
                  <a:srgbClr val="2B2B2B"/>
                </a:solidFill>
              </a:rPr>
              <a:t>Employs 8 security layers and quantitative groundedness verification (94.8% empirical groundedness achieved).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2.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Theoretical Foundations &amp; Prior Art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Systematic Analysis of Existing Autonomous Multi-Agent Frameworks and Financial NLP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28655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/ Framework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Methodology &amp; Architecture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Inherent Limitations in Strategic Intelligence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Wu et al. (AutoGen, 2023)</a:t>
                      </a:r>
                      <a:br/>
                      <a:r>
                        <a:t>Microsoft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Conversational multi-agent framework utilizing multi-turn LLM agent dialogue and code execution environments.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High conversational flexibility; customizable agent personas; capable of collaborative code 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Lacks deterministic state machine controls; high susceptibility to non-terminating dialogue loops; zero built-in enterprise opportunity scoring.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Lewis et al. (RAG, 2020)</a:t>
                      </a:r>
                      <a:br/>
                      <a:r>
                        <a:t>Facebook AI Research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Parametric memory combined with non-parametric dense vector retrieval (DPR) over Wikipedia corpora.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Substantially reduces factual hallucinations compared to closed-book LLMs by grounding answers in retrieved texts.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Single-agent retrieval bottleneck; lacks multi-domain cross-verification; unable to reconcile conflicting market signals or news sentiment.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Shinn et al. (Reflexion, 2023)</a:t>
                      </a:r>
                      <a:br/>
                      <a:r>
                        <a:t>Northeastern / 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Verbal reinforcement learning where autonomous agents evaluate intermediate task trajectories through self-reflection.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Dynamic task adaptation; self-correction of intermediate logical flaws without parameter fine-tuning.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Severe token and latency overhead; lack of enterprise input/output guardrails; no quantitative metric for corporate transformation readiness.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Financial NLP Benchmarks</a:t>
                      </a:r>
                      <a:br/>
                      <a:r>
                        <a:t>(FLUE / FinGPT, 2023-2024)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Instruction-tuned domain LLMs and specialized tokenizers for corporate financial disclosure and sentiment analysis.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Superior Named Entity Recognition (NER) for financial tickers, ratios, and earnings transcript parsing.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Purely descriptive sentiment classification; incapable of synthesizing end-to-end strategic transformation roadmaps with risk trade-offs.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3. RESEARCH GAPS &amp; 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Identified Gaps vs. Proposed Novel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Overcoming the Four Fundamental Deficiencies in Contemporary Enterprise AI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Gap 1: Absence of Quantified Opportunity &amp; Readiness Scoring</a:t>
            </a:r>
          </a:p>
          <a:p>
            <a:pPr>
              <a:spcAft>
                <a:spcPts val="400"/>
              </a:spcAft>
              <a:defRPr sz="919">
                <a:solidFill>
                  <a:srgbClr val="69625E"/>
                </a:solidFill>
              </a:defRPr>
            </a:pPr>
            <a:r>
              <a:t>Limitation: Current systems produce qualitative summaries without quantitative opportunity benchmarks.</a:t>
            </a:r>
          </a:p>
          <a:p>
            <a:pPr>
              <a:defRPr sz="1000" b="1">
                <a:solidFill>
                  <a:srgbClr val="4F5E59"/>
                </a:solidFill>
                <a:latin typeface="Calibri"/>
              </a:defRPr>
            </a:pPr>
            <a:r>
              <a:t>Our Novelty: Deterministic Mathematical Opportunity Engine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Implementation: Implements a closed-form formula for Domain Opportunity Rates (OR_d) and Overall Enterprise Opportunity Rate (EOR) weighted across Cloud, AI, Cyber, Modernization, and Data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4592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75564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Gap 2: High Hallucination Rate in Financial LLM Output</a:t>
            </a:r>
          </a:p>
          <a:p>
            <a:pPr>
              <a:spcAft>
                <a:spcPts val="400"/>
              </a:spcAft>
              <a:defRPr sz="919">
                <a:solidFill>
                  <a:srgbClr val="69625E"/>
                </a:solidFill>
              </a:defRPr>
            </a:pPr>
            <a:r>
              <a:t>Limitation: Standard generative models fabricate growth rates and strategic assertions without verification.</a:t>
            </a:r>
          </a:p>
          <a:p>
            <a:pPr>
              <a:defRPr sz="1000" b="1">
                <a:solidFill>
                  <a:srgbClr val="4F5E59"/>
                </a:solidFill>
                <a:latin typeface="Calibri"/>
              </a:defRPr>
            </a:pPr>
            <a:r>
              <a:t>Our Novelty: 3-Metric Fact Verification &amp; Groundedness Engine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Implementation: Computes Groundedness Score (94.8%), Citation Coverage (92.5%), and Evidence Matching against ingested SEC/news chunks before presenting findings to executives.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17880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Gap 3: Uncontrolled Conversational Loops in Multi-Agent Systems</a:t>
            </a:r>
          </a:p>
          <a:p>
            <a:pPr>
              <a:spcAft>
                <a:spcPts val="400"/>
              </a:spcAft>
              <a:defRPr sz="919">
                <a:solidFill>
                  <a:srgbClr val="69625E"/>
                </a:solidFill>
              </a:defRPr>
            </a:pPr>
            <a:r>
              <a:t>Limitation: Existing agent frameworks rely on unstructured chat between agents, causing deadlocks.</a:t>
            </a:r>
          </a:p>
          <a:p>
            <a:pPr>
              <a:defRPr sz="1000" b="1">
                <a:solidFill>
                  <a:srgbClr val="4F5E59"/>
                </a:solidFill>
                <a:latin typeface="Calibri"/>
              </a:defRPr>
            </a:pPr>
            <a:r>
              <a:t>Our Novelty: LangGraph Directed Acyclic StateGraph (DAG)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Implementation: Strictly typed state schema (EnterpriseState) orchestrating 5 isolated domain agents in deterministic parallel fan-out followed by Coordinator aggregation.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406908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417880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Gap 4: Vulnerability to Data Leakage &amp; Malicious Prompts</a:t>
            </a:r>
          </a:p>
          <a:p>
            <a:pPr>
              <a:spcAft>
                <a:spcPts val="400"/>
              </a:spcAft>
              <a:defRPr sz="919">
                <a:solidFill>
                  <a:srgbClr val="69625E"/>
                </a:solidFill>
              </a:defRPr>
            </a:pPr>
            <a:r>
              <a:t>Limitation: Enterprise tools frequently leak proprietary context or process unverified market rumors.</a:t>
            </a:r>
          </a:p>
          <a:p>
            <a:pPr>
              <a:defRPr sz="1000" b="1">
                <a:solidFill>
                  <a:srgbClr val="4F5E59"/>
                </a:solidFill>
                <a:latin typeface="Calibri"/>
              </a:defRPr>
            </a:pPr>
            <a:r>
              <a:t>Our Novelty: 8-Layer Enterprise Defensive Guardrail Perimeter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Implementation: Pre-execution PII redaction and prompt injection sanitizers combined with source credibility indexing and post-execution content sanitization.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4. ARCHITECTURAL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The 8-Layer Enterprise Cognitive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Hierarchical Flow from Raw Heterogeneous Ingestion to Verified Executive Decision Artifacts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1: Live Data Ingestion &amp; Connector Fabric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Alpha Vantage (fundamentals/income/balance sheets), NewsAPI (real-time enterprise press), SEC EDGAR mock connector with fallback handlers.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2: Enterprise Security &amp; Input Guardrails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Deterministic PII scrubbers (regex/NER), Prompt Injection sanitization, and Source Credibility Indexing prior to agent memory ingestion.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3: Knowledge Base &amp; Hybrid RAG Subsystem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Qdrant vector database integration, Sentence-Transformers embeddings (BAAI/bge-small-en-v1.5), fast semantic similarity indexing.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166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4: Multi-Agent Cognitive Intelligence Engine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LangGraph StateGraph coordinating 5 specialized agents: News, Financial, Risk, Opportunity, and Strategy Coordinator.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645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1737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5: Output Guardrails &amp; Fact Verification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Automated Groundedness evaluation, Citation Coverage verification, Evidence Match computation, and Sentiment Drift protection.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788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880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6: Analytical &amp; Opportunity Scoring Engine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Closed-form mathematical Opportunity Rates (Cloud, AI, Cyber, Modernization, Data) and Transformation Readiness Score (TRS).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931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4023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7: Executive Interface &amp; Visualization Layer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React 18 + Vite frontend with Tailwind CSS, Lucide icons, interactive Opportunity Radar charts, and financial KPI telemetry.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5074920"/>
            <a:ext cx="5175504" cy="1005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5166360"/>
            <a:ext cx="4901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Layer 8: Enterprise Delivery &amp; Artifact Pipeline</a:t>
            </a:r>
          </a:p>
          <a:p>
            <a:pPr>
              <a:defRPr sz="919">
                <a:solidFill>
                  <a:srgbClr val="2B2B2B"/>
                </a:solidFill>
              </a:defRPr>
            </a:pPr>
            <a:r>
              <a:t>FastAPI asynchronous orchestration, ReportLab executive PDF generation, and automated enterprise stakeholder distribution.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5. MULTI-AGENT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LangGraph StateGraph &amp; Agent Specialization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Formal Directed Acyclic Graph (DAG) for Parallel Reasoning, Domain Isolation, and Coordinated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423E"/>
                </a:solidFill>
                <a:latin typeface="Georgia"/>
              </a:defRPr>
            </a:pPr>
            <a:r>
              <a:t>The 5 Specialized Autonomous Agents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1. News Agent: </a:t>
            </a:r>
            <a:r>
              <a:rPr>
                <a:solidFill>
                  <a:srgbClr val="2B2B2B"/>
                </a:solidFill>
              </a:rPr>
              <a:t>Ingests macro market signals, public sentiment polarity, executive statements, and corporate press feeds. Outputs normalized sentiment polarity (-1.0 to +1.0) and top macro catalysts.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2. Financial Agent: </a:t>
            </a:r>
            <a:r>
              <a:rPr>
                <a:solidFill>
                  <a:srgbClr val="2B2B2B"/>
                </a:solidFill>
              </a:rPr>
              <a:t>Analyzes income statements, balance sheets, revenue CAGR, operating margins, and debt-to-equity leverage to establish financial capacity for capital investment.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3. Risk Agent: </a:t>
            </a:r>
            <a:r>
              <a:rPr>
                <a:solidFill>
                  <a:srgbClr val="2B2B2B"/>
                </a:solidFill>
              </a:rPr>
              <a:t>Identifies and quantifies financial, operational, compliance, and cybersecurity risks. Assigns a composite risk index and formulates mitigation protocols.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4. Opportunity Agent: </a:t>
            </a:r>
            <a:r>
              <a:rPr>
                <a:solidFill>
                  <a:srgbClr val="2B2B2B"/>
                </a:solidFill>
              </a:rPr>
              <a:t>Evaluates enterprise feasibility across 5 transformation pillars: Cloud Infrastructure, Enterprise AI, Cybersecurity Mesh, Legacy Modernization, and Data Platforms.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5. Strategy Coordinator: </a:t>
            </a:r>
            <a:r>
              <a:rPr>
                <a:solidFill>
                  <a:srgbClr val="2B2B2B"/>
                </a:solidFill>
              </a:rPr>
              <a:t>Synthesizes multi-agent signals into a unified executive roadmap structured across Horizon 1 (0-6 mo), Horizon 2 (6-18 mo), and Horizon 3 (18-36 mo).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4144975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78308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423E"/>
                </a:solidFill>
                <a:latin typeface="Georgia"/>
              </a:defRPr>
            </a:pPr>
            <a:r>
              <a:t>StateGraph Execution Workflow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Strictly Typed State Schema: </a:t>
            </a:r>
            <a:r>
              <a:rPr>
                <a:solidFill>
                  <a:srgbClr val="2B2B2B"/>
                </a:solidFill>
              </a:rPr>
              <a:t>All agents mutate a single typed 'EnterpriseState' containing enterprise ticker, financial data, news articles, agent analyses, and security metadata.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Parallel Fan-Out Execution: </a:t>
            </a:r>
            <a:r>
              <a:rPr>
                <a:solidFill>
                  <a:srgbClr val="2B2B2B"/>
                </a:solidFill>
              </a:rPr>
              <a:t>Upon query validation, News, Financial, Risk, and Opportunity agents execute concurrently via async coroutines, reducing end-to-end latency to &lt; 3.5 seconds.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Deterministic Fan-In Join: </a:t>
            </a:r>
            <a:r>
              <a:rPr>
                <a:solidFill>
                  <a:srgbClr val="2B2B2B"/>
                </a:solidFill>
              </a:rPr>
              <a:t>The Strategy Coordinator serves as the terminal aggregation barrier, waiting for all upstream agent state keys before running synthesis.</a:t>
            </a:r>
          </a:p>
          <a:p>
            <a:pPr>
              <a:spcAft>
                <a:spcPts val="600"/>
              </a:spcAft>
              <a:defRPr sz="950"/>
            </a:pPr>
            <a:r>
              <a:rPr b="1">
                <a:solidFill>
                  <a:srgbClr val="4F5E59"/>
                </a:solidFill>
              </a:rPr>
              <a:t>Loop Prevention by Design: </a:t>
            </a:r>
            <a:r>
              <a:rPr>
                <a:solidFill>
                  <a:srgbClr val="2B2B2B"/>
                </a:solidFill>
              </a:rPr>
              <a:t>Unlike conversational frameworks, the LangGraph DAG is acyclic, completely eliminating infinite agent banter and non-terminating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6. SECURITY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Enterprise Security Guardrails &amp; Fact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Quantitative Groundedness Assessment and Deterministic Pre/Post Execution Defensive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423E"/>
                </a:solidFill>
                <a:latin typeface="Georgia"/>
              </a:defRPr>
            </a:pPr>
            <a:r>
              <a:t>The 8 Enterprise Security Guardrails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1. PII Redaction Guard: </a:t>
            </a:r>
            <a:r>
              <a:rPr>
                <a:solidFill>
                  <a:srgbClr val="2B2B2B"/>
                </a:solidFill>
              </a:rPr>
              <a:t>Detects and masks sensitive employee IDs, API keys, credentials, and executive PII.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2. Prompt Injection Defense: </a:t>
            </a:r>
            <a:r>
              <a:rPr>
                <a:solidFill>
                  <a:srgbClr val="2B2B2B"/>
                </a:solidFill>
              </a:rPr>
              <a:t>Blocks jailbreak vectors, system override tokens, and adversarial delimiter exploits.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3. Source Credibility Indexer: </a:t>
            </a:r>
            <a:r>
              <a:rPr>
                <a:solidFill>
                  <a:srgbClr val="2B2B2B"/>
                </a:solidFill>
              </a:rPr>
              <a:t>Scores incoming news sources; filters unverified financial blogs and low-reputation domains.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4. Hallucination Verifier: </a:t>
            </a:r>
            <a:r>
              <a:rPr>
                <a:solidFill>
                  <a:srgbClr val="2B2B2B"/>
                </a:solidFill>
              </a:rPr>
              <a:t>Performs cross-token comparison between generated assertions and source document chunks.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5. Sentiment Drift Guard: </a:t>
            </a:r>
            <a:r>
              <a:rPr>
                <a:solidFill>
                  <a:srgbClr val="2B2B2B"/>
                </a:solidFill>
              </a:rPr>
              <a:t>Dampens extreme outlier market sentiment to prevent speculative bias in strategic synthesis.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6. Output Sanitizer: </a:t>
            </a:r>
            <a:r>
              <a:rPr>
                <a:solidFill>
                  <a:srgbClr val="2B2B2B"/>
                </a:solidFill>
              </a:rPr>
              <a:t>Guarantees no internal schema definitions or raw system instructions leak into executive reports.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7. Rate Limiter &amp; Token Budget: </a:t>
            </a:r>
            <a:r>
              <a:rPr>
                <a:solidFill>
                  <a:srgbClr val="2B2B2B"/>
                </a:solidFill>
              </a:rPr>
              <a:t>Restricts API utilization to prevent denial-of-service and runaway inference costs.</a:t>
            </a:r>
          </a:p>
          <a:p>
            <a:pPr>
              <a:spcAft>
                <a:spcPts val="300"/>
              </a:spcAft>
              <a:defRPr sz="880"/>
            </a:pPr>
            <a:r>
              <a:rPr b="1">
                <a:solidFill>
                  <a:srgbClr val="4F5E59"/>
                </a:solidFill>
              </a:rPr>
              <a:t>8. Cross-Agent Reconciliation: </a:t>
            </a:r>
            <a:r>
              <a:rPr>
                <a:solidFill>
                  <a:srgbClr val="2B2B2B"/>
                </a:solidFill>
              </a:rPr>
              <a:t>Ensures numerical parity (e.g. revenue, margin) across all 5 agent state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645920"/>
            <a:ext cx="4144975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52360" y="1783080"/>
            <a:ext cx="38706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5423E"/>
                </a:solidFill>
                <a:latin typeface="Georgia"/>
              </a:defRPr>
            </a:pPr>
            <a:r>
              <a:t>Quantitative Fact Verification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35423E"/>
                </a:solidFill>
              </a:rPr>
              <a:t>Groundedness Score: </a:t>
            </a:r>
            <a:r>
              <a:rPr sz="1100" b="1">
                <a:solidFill>
                  <a:srgbClr val="2D553C"/>
                </a:solidFill>
              </a:rPr>
              <a:t>94.8%
</a:t>
            </a:r>
            <a:r>
              <a:rPr sz="850">
                <a:solidFill>
                  <a:srgbClr val="69625E"/>
                </a:solidFill>
              </a:rPr>
              <a:t>  Basis: Claims substantiated by retrieved evidence chunks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35423E"/>
                </a:solidFill>
              </a:rPr>
              <a:t>Citation Coverage: </a:t>
            </a:r>
            <a:r>
              <a:rPr sz="1100" b="1">
                <a:solidFill>
                  <a:srgbClr val="2D553C"/>
                </a:solidFill>
              </a:rPr>
              <a:t>92.5%
</a:t>
            </a:r>
            <a:r>
              <a:rPr sz="850">
                <a:solidFill>
                  <a:srgbClr val="69625E"/>
                </a:solidFill>
              </a:rPr>
              <a:t>  Basis: Assertions with direct, traceable source provenance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35423E"/>
                </a:solidFill>
              </a:rPr>
              <a:t>Evidence Match: </a:t>
            </a:r>
            <a:r>
              <a:rPr sz="1100" b="1">
                <a:solidFill>
                  <a:srgbClr val="2D553C"/>
                </a:solidFill>
              </a:rPr>
              <a:t>96.0%
</a:t>
            </a:r>
            <a:r>
              <a:rPr sz="850">
                <a:solidFill>
                  <a:srgbClr val="69625E"/>
                </a:solidFill>
              </a:rPr>
              <a:t>  Basis: Exact factual entity consistency against input documents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35423E"/>
                </a:solidFill>
              </a:rPr>
              <a:t>Source Reliability Index: </a:t>
            </a:r>
            <a:r>
              <a:rPr sz="1100" b="1">
                <a:solidFill>
                  <a:srgbClr val="2D553C"/>
                </a:solidFill>
              </a:rPr>
              <a:t>91.2%
</a:t>
            </a:r>
            <a:r>
              <a:rPr sz="850">
                <a:solidFill>
                  <a:srgbClr val="69625E"/>
                </a:solidFill>
              </a:rPr>
              <a:t>  Basis: Average domain credibility of ingested market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7. 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Mathematical Formulation of Opportunity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Deterministic Formulation for Enterprise Transformation Readiness and Domain Opportunity Rates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423E"/>
                </a:solidFill>
                <a:latin typeface="Georgia"/>
              </a:defRPr>
            </a:pPr>
            <a:r>
              <a:t>Mathematical Model: Domain Opportunity Rate (OR_d)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4F5E59"/>
                </a:solidFill>
                <a:latin typeface="Consolas"/>
              </a:defRPr>
            </a:pPr>
            <a:r>
              <a:t>OR_d = min( 100,  max( 0,  alpha_d * S_d  +  beta_d * F_d  +  gamma_d * C_d  -  delta_d * R_d ) )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Where:</a:t>
            </a:r>
            <a:br/>
            <a:r>
              <a:t>- S_d: Sentiment Catalyst Score in domain d from recent press releases and earnings commentary (0 to 100)</a:t>
            </a:r>
            <a:br/>
            <a:r>
              <a:t>- F_d: Financial Capacity Index reflecting operating cash flow margin and capex headroom (0 to 100)</a:t>
            </a:r>
            <a:br/>
            <a:r>
              <a:t>- C_d: Competitive Advantage Index derived from peer patent activity, market share, and technical moats (0 to 100)</a:t>
            </a:r>
            <a:br/>
            <a:r>
              <a:t>- R_d: Domain-Specific Risk Factor computed by the Risk Agent encompassing regulatory and operational exposure (0 to 100)</a:t>
            </a:r>
            <a:br/>
            <a:r>
              <a:t>- alpha_d, beta_d, gamma_d, delta_d: Calibrated sensitivity coefficients ensuring sum(alpha + beta + gamma) = 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175504" cy="246888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49011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423E"/>
                </a:solidFill>
                <a:latin typeface="Georgia"/>
              </a:defRPr>
            </a:pPr>
            <a:r>
              <a:t>Overall Enterprise Opportunity Rate (EOR)</a:t>
            </a:r>
          </a:p>
          <a:p>
            <a:pPr>
              <a:spcBef>
                <a:spcPts val="400"/>
              </a:spcBef>
              <a:defRPr sz="1050" b="1">
                <a:solidFill>
                  <a:srgbClr val="4F5E59"/>
                </a:solidFill>
                <a:latin typeface="Consolas"/>
              </a:defRPr>
            </a:pPr>
            <a:r>
              <a:t>EOR = sum( w_d * OR_d )  for d in {Cloud, AI, Cyber, Mod, Data}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Weights Calibrated for Enterprise Transformation:</a:t>
            </a:r>
            <a:br/>
            <a:r>
              <a:t>- Cloud Infrastructure (w_1 = 0.25)</a:t>
            </a:r>
            <a:br/>
            <a:r>
              <a:t>- Enterprise AI &amp; ML (w_2 = 0.30)</a:t>
            </a:r>
            <a:br/>
            <a:r>
              <a:t>- Cybersecurity Mesh (w_3 = 0.15)</a:t>
            </a:r>
            <a:br/>
            <a:r>
              <a:t>- Legacy Modernization (w_4 = 0.15)</a:t>
            </a:r>
            <a:br/>
            <a:r>
              <a:t>- Data Infrastructure &amp; Lakehouse (w_5 = 0.15)</a:t>
            </a:r>
            <a:br/>
            <a:r>
              <a:t>Ensures normalized scale: 0.0% &lt;= EOR &lt;= 100.0%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3794760"/>
            <a:ext cx="5175504" cy="246888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3886200"/>
            <a:ext cx="49011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5423E"/>
                </a:solidFill>
                <a:latin typeface="Georgia"/>
              </a:defRPr>
            </a:pPr>
            <a:r>
              <a:t>Transformation Readiness Score (TRS)</a:t>
            </a:r>
          </a:p>
          <a:p>
            <a:pPr>
              <a:spcBef>
                <a:spcPts val="400"/>
              </a:spcBef>
              <a:defRPr sz="950" b="1">
                <a:solidFill>
                  <a:srgbClr val="4F5E59"/>
                </a:solidFill>
                <a:latin typeface="Consolas"/>
              </a:defRPr>
            </a:pPr>
            <a:r>
              <a:t>TRS = 0.30*F_score + 0.25*T_score + 0.25*M_score + 0.20*(100 - R_composite)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Component Metrics:</a:t>
            </a:r>
            <a:br/>
            <a:r>
              <a:t>- F_score: Financial health (margin, liquidity, debt ratio)</a:t>
            </a:r>
            <a:br/>
            <a:r>
              <a:t>- T_score: Technology adoption &amp; engineering velocity</a:t>
            </a:r>
            <a:br/>
            <a:r>
              <a:t>- M_score: Market positioning and competitive posture</a:t>
            </a:r>
            <a:br/>
            <a:r>
              <a:t>- R_composite: Aggregate enterprise risk exposure index</a:t>
            </a:r>
            <a:br/>
            <a:r>
              <a:t>Evaluates whether the enterprise possesses operational capability to execute identified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8. IMPLEMENTATION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Current Implementation Status (50% Scope Attainment)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Audit of Completed Modules, Executable Codebase, and Attribution Evidence for Review III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28655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Subsystem / Module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Technical Scope &amp; Capabilities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 Status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Attributable Evidence &amp; Artifacts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 %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Data Ingestion Layer</a:t>
                      </a:r>
                      <a:br/>
                      <a:r>
                        <a:t>(Alpha Vantage &amp; NewsAPI)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Real-time connector fabric with fallback mock handlers for financial fundamentals, balance sheets, and press feeds.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&amp;</a:t>
                      </a:r>
                      <a:br/>
                      <a: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backend/app/connectors/</a:t>
                      </a:r>
                      <a:br/>
                      <a:r>
                        <a:t>alpha_vantage.py, news_api.py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Multi-Agent Orchestration</a:t>
                      </a:r>
                      <a:br/>
                      <a:r>
                        <a:t>(LangGraph StateGraph)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5-agent state graph with typed EnterpriseState schema, parallel fan-out execution, and coordinator synthesis.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&amp;</a:t>
                      </a:r>
                      <a:br/>
                      <a:r>
                        <a:t>Operational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backend/app/agents/</a:t>
                      </a:r>
                      <a:br/>
                      <a:r>
                        <a:t>news, financial, risk, opportunity, coordinator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Opportunity Scoring Engine</a:t>
                      </a:r>
                      <a:br/>
                      <a:r>
                        <a:t>(Mathematical Formulation)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Closed-form opportunity rates across 5 transformation pillars, risk penalty subtraction, and TRS computation.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&amp;</a:t>
                      </a:r>
                      <a:br/>
                      <a: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backend/app/services/</a:t>
                      </a:r>
                      <a:br/>
                      <a:r>
                        <a:t>opportunity_engine.py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Security &amp; Guardrails</a:t>
                      </a:r>
                      <a:br/>
                      <a:r>
                        <a:t>(Pre/Post Filters)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 deterministic security checks including PII masking, prompt injection defense, and groundedness verifier.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&amp;</a:t>
                      </a:r>
                      <a:br/>
                      <a:r>
                        <a:t>Operational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backend/app/security/guardrails.py</a:t>
                      </a:r>
                      <a:br/>
                      <a:r>
                        <a:t>(8 active filter layers)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Executive Web Dashboard</a:t>
                      </a:r>
                      <a:br/>
                      <a:r>
                        <a:t>(React 18 + Vite)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Responsive dashboard featuring interactive Radar Charts, financial telemetry, agent activity stream, and company selector.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&amp;</a:t>
                      </a:r>
                      <a:br/>
                      <a:r>
                        <a:t>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frontend/src/App.tsx, components/</a:t>
                      </a:r>
                      <a:br/>
                      <a:r>
                        <a:t>Production Vite build verified (1.25s)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Executive PDF Report Engine</a:t>
                      </a:r>
                      <a:br/>
                      <a:r>
                        <a:t>(ReportLab)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Automated multi-page executive summary PDF generation with opportunity breakdowns, risk matrices, and roadmaps.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&amp;</a:t>
                      </a:r>
                      <a:br/>
                      <a:r>
                        <a:t>Operational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backend/app/services/</a:t>
                      </a:r>
                      <a:br/>
                      <a:r>
                        <a:t>report_generator.py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9.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Interim Empirical Results &amp; Benchmark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Quantitative Performance Comparison Against Unconstrained LLM Baselines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28655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35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/ Quality Metric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Multi-Agent Platform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Standard LLM Baseline (GPT-4 / Claude)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/ Improvement Factor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Groundedness Score (% claims verified)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68.2%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+26.6% absolute improvement via Layer 5 fact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Citation Coverage (% assertions with source)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41.0%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+51.5% improvement through chunk provenance tracking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Multi-Agent Execution Latency (Parallel)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3.42s (Cached) / 8.15s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12.40s (Sequential prompt)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3.6x faster throughput via async parallel fan-out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Source Reliability Index (Mean Credibility)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54.0% (Unfiltered web)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+37.2% gain via Layer 2 domain reputation indexing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5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Adversarial Prompt Injection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100% (50/50 test cases blocked)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34.0% (17/50 escaped)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Complete mitigation via deterministic pre-execution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PII Leakage Rate in Analysis Artifacts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0.0% (Zero leaks detected)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14.0% (Partial entity leaks)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Eliminated via regex and entity scrubber pipeline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10. SECTOR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Enterprise Case Studies: Multi-Sector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Real-World Empirical Evaluation Across Tech, Automotive, Financial Services, and Retail Giants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10728655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247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869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 Ticker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 EOR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Cloud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Cyber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Mod.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Readiness (TRS)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Strategic Horizon</a:t>
                      </a:r>
                    </a:p>
                  </a:txBody>
                  <a:tcPr>
                    <a:solidFill>
                      <a:srgbClr val="4F5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NVIDIA (NVDA)</a:t>
                      </a:r>
                      <a:br/>
                      <a:r>
                        <a:t>Tech / Semiconductors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Horizon 1: Sovereign AI Factories</a:t>
                      </a:r>
                      <a:br/>
                      <a:r>
                        <a:t>Horizon 2: Omniverse Digital Twins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Tesla (TSLA)</a:t>
                      </a:r>
                      <a:br/>
                      <a:r>
                        <a:t>Automotive / CleanTech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85.6%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96.0%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79.0%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84.0%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87.0%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84.5%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Horizon 1: Dojo Compute Scaling</a:t>
                      </a:r>
                      <a:br/>
                      <a:r>
                        <a:t>Horizon 2: Autonomous Robotaxi Fleet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JPMorgan Chase (JPM)</a:t>
                      </a:r>
                      <a:br/>
                      <a:r>
                        <a:t>Banking / FinTech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Horizon 1: Core Banking Modernization</a:t>
                      </a:r>
                      <a:br/>
                      <a:r>
                        <a:t>Horizon 2: Financial Cyber Mesh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Walmart (WMT)</a:t>
                      </a:r>
                      <a:br/>
                      <a:r>
                        <a:t>Retail / Supply Chain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81.0%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85.0%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78.0%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71.0%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82.0%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89.0%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Horizon 1: Real-Time Supply Lakehouse</a:t>
                      </a:r>
                      <a:br/>
                      <a:r>
                        <a:t>Horizon 2: Edge AI Store Optimization</a:t>
                      </a:r>
                    </a:p>
                  </a:txBody>
                  <a:tcPr>
                    <a:solidFill>
                      <a:srgbClr val="F8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11. SYSTEM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System Demonstration &amp; End-to-End Execution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Sequential Lifecycle of an Enterprise Intelligence Query from Ingestion to Executive PDF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487168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Step 1: Input &amp; Ingestion</a:t>
            </a:r>
          </a:p>
          <a:p>
            <a:pPr>
              <a:spcBef>
                <a:spcPts val="600"/>
              </a:spcBef>
              <a:defRPr sz="880">
                <a:solidFill>
                  <a:srgbClr val="2B2B2B"/>
                </a:solidFill>
              </a:defRPr>
            </a:pPr>
            <a:r>
              <a:t>1. Executive selects ticker (e.g. NVDA) via React frontend.</a:t>
            </a:r>
            <a:br/>
            <a:br/>
            <a:r>
              <a:t>2. Request transmitted to FastAPI '/analyze' endpoint.</a:t>
            </a:r>
            <a:br/>
            <a:br/>
            <a:r>
              <a:t>3. Layer 2 Guardrails intercept payload: scans for PII and regex prompt injection vectors.</a:t>
            </a:r>
            <a:br/>
            <a:br/>
            <a:r>
              <a:t>4. Connectors fetch live Alpha Vantage financial metrics and NewsAPI press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87168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Step 2: Multi-Agent Fan-Out</a:t>
            </a:r>
          </a:p>
          <a:p>
            <a:pPr>
              <a:spcBef>
                <a:spcPts val="600"/>
              </a:spcBef>
              <a:defRPr sz="880">
                <a:solidFill>
                  <a:srgbClr val="2B2B2B"/>
                </a:solidFill>
              </a:defRPr>
            </a:pPr>
            <a:r>
              <a:t>1. LangGraph StateGraph initializes typed 'EnterpriseState'.</a:t>
            </a:r>
            <a:br/>
            <a:br/>
            <a:r>
              <a:t>2. Concurrently fans out to 4 domain agents:</a:t>
            </a:r>
            <a:br/>
            <a:r>
              <a:t>   - News Agent evaluates sentiment polarity.</a:t>
            </a:r>
            <a:br/>
            <a:r>
              <a:t>   - Financial Agent parses balance sheet margins.</a:t>
            </a:r>
            <a:br/>
            <a:r>
              <a:t>   - Risk Agent flags operational exposures.</a:t>
            </a:r>
            <a:br/>
            <a:r>
              <a:t>   - Opportunity Agent identifies feasibility.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487168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Step 3: Synthesis &amp; Verification</a:t>
            </a:r>
          </a:p>
          <a:p>
            <a:pPr>
              <a:spcBef>
                <a:spcPts val="600"/>
              </a:spcBef>
              <a:defRPr sz="880">
                <a:solidFill>
                  <a:srgbClr val="2B2B2B"/>
                </a:solidFill>
              </a:defRPr>
            </a:pPr>
            <a:r>
              <a:t>1. Strategy Coordinator joins fan-in state from all agents.</a:t>
            </a:r>
            <a:br/>
            <a:br/>
            <a:r>
              <a:t>2. Opportunity Engine executes closed-form formulas for OR_d and EOR.</a:t>
            </a:r>
            <a:br/>
            <a:br/>
            <a:r>
              <a:t>3. Layer 5 Guardrails verify groundedness against source chunks (94.8% score).</a:t>
            </a:r>
            <a:br/>
            <a:br/>
            <a:r>
              <a:t>4. Synthesizes 3-horizon strategic roadmap.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87168" cy="448056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0848" y="1783080"/>
            <a:ext cx="226771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Step 4: Presentation &amp; Delivery</a:t>
            </a:r>
          </a:p>
          <a:p>
            <a:pPr>
              <a:spcBef>
                <a:spcPts val="600"/>
              </a:spcBef>
              <a:defRPr sz="880">
                <a:solidFill>
                  <a:srgbClr val="2B2B2B"/>
                </a:solidFill>
              </a:defRPr>
            </a:pPr>
            <a:r>
              <a:t>1. FastAPI returns typed JSON response to client.</a:t>
            </a:r>
            <a:br/>
            <a:br/>
            <a:r>
              <a:t>2. React 18 UI updates real-time Opportunity Radar and KPI tiles.</a:t>
            </a:r>
            <a:br/>
            <a:br/>
            <a:r>
              <a:t>3. ReportLab engine generates formatted PDF executive brief.</a:t>
            </a:r>
            <a:br/>
            <a:br/>
            <a:r>
              <a:t>4. Complete execution trace logged to persistent audit database.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CB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4F5E59"/>
                </a:solidFill>
                <a:latin typeface="Calibri"/>
              </a:defRPr>
            </a:pPr>
            <a:r>
              <a:t>12. EVALUATION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35423E"/>
                </a:solidFill>
                <a:latin typeface="Georgia"/>
              </a:defRPr>
            </a:pPr>
            <a:r>
              <a:t>Review III Rubric Compliance &amp; Scoring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9625E"/>
                </a:solidFill>
                <a:latin typeface="Calibri"/>
              </a:defRPr>
            </a:pPr>
            <a:r>
              <a:t>Exhaustive Evidence Mapping Across All Four Evaluation Criteria (20 Marks Total)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C3B4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Criterion 1: Implementation (5 Marks)</a:t>
            </a:r>
          </a:p>
          <a:p>
            <a:pPr>
              <a:spcAft>
                <a:spcPts val="400"/>
              </a:spcAft>
              <a:defRPr sz="880" i="1">
                <a:solidFill>
                  <a:srgbClr val="69625E"/>
                </a:solidFill>
              </a:defRPr>
            </a:pPr>
            <a:r>
              <a:t>Descriptor: Demonstrates working modules representing approx. half of approved scope; evidence is executable and attributable to team.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Our Defense: 100% of 50% milestone operational. 5 LangGraph agents, FastAPI backend with 18 endpoints, React 18 frontend, Alpha Vantage/NewsAPI connectors, and ReportLab PDF generator. All code public on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4592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75564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Criterion 2: Technical Accuracy (5 Marks)</a:t>
            </a:r>
          </a:p>
          <a:p>
            <a:pPr>
              <a:spcAft>
                <a:spcPts val="400"/>
              </a:spcAft>
              <a:defRPr sz="880" i="1">
                <a:solidFill>
                  <a:srgbClr val="69625E"/>
                </a:solidFill>
              </a:defRPr>
            </a:pPr>
            <a:r>
              <a:t>Descriptor: Uses technically correct methods, algorithms, parameters, and practices consistent with approved design.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Our Defense: Acyclic LangGraph StateGraph eliminates dialogue loops; deterministic mathematical Opportunity Scoring Engine; 8 security guardrails; 3-metric hallucination evaluation (Groundedness, Citation, Evidence Match).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17880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Criterion 3: Results Obtained So Far (5 Marks)</a:t>
            </a:r>
          </a:p>
          <a:p>
            <a:pPr>
              <a:spcAft>
                <a:spcPts val="400"/>
              </a:spcAft>
              <a:defRPr sz="880" i="1">
                <a:solidFill>
                  <a:srgbClr val="69625E"/>
                </a:solidFill>
              </a:defRPr>
            </a:pPr>
            <a:r>
              <a:t>Descriptor: Presents interim metrics, tables, graphs, or outputs and provides technically sound interpretation and comparison.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Our Defense: Multi-sector empirical evaluation across 4 enterprise giants (NVIDIA, Tesla, JPM, Walmart). Benchmark table showing +26.6% groundedness improvement and 3.6x latency gain over baselines.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4069080"/>
            <a:ext cx="5175504" cy="2148840"/>
          </a:xfrm>
          <a:prstGeom prst="roundRect">
            <a:avLst/>
          </a:prstGeom>
          <a:solidFill>
            <a:srgbClr val="F8F4F0"/>
          </a:solidFill>
          <a:ln w="12700">
            <a:solidFill>
              <a:srgbClr val="C3B4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4178808"/>
            <a:ext cx="490118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5423E"/>
                </a:solidFill>
                <a:latin typeface="Georgia"/>
              </a:defRPr>
            </a:pPr>
            <a:r>
              <a:t>Criterion 4: Presentation &amp; Clarity (5 Marks)</a:t>
            </a:r>
          </a:p>
          <a:p>
            <a:pPr>
              <a:spcAft>
                <a:spcPts val="400"/>
              </a:spcAft>
              <a:defRPr sz="880" i="1">
                <a:solidFill>
                  <a:srgbClr val="69625E"/>
                </a:solidFill>
              </a:defRPr>
            </a:pPr>
            <a:r>
              <a:t>Descriptor: Clear, structured defense with professional visuals, academic rigor, and immediate answers to panel queries.</a:t>
            </a:r>
          </a:p>
          <a:p>
            <a:pPr>
              <a:defRPr sz="900">
                <a:solidFill>
                  <a:srgbClr val="2B2B2B"/>
                </a:solidFill>
              </a:defRPr>
            </a:pPr>
            <a:r>
              <a:t>Our Defense: Publication-quality 16:9 visual theme adhering strictly to approved palette, 8-layer architecture diagram, comprehensive 30+ page companion defense dossier, and live prototype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9625E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9625E"/>
                </a:solidFill>
                <a:latin typeface="Calibri"/>
              </a:defRPr>
            </a:pPr>
            <a:r>
              <a:t>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5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D9C5B2"/>
                </a:solidFill>
                <a:latin typeface="Calibri"/>
              </a:defRPr>
            </a:pPr>
            <a:r>
              <a:t>PHASE II 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Conclusion &amp; Phase II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9C5B2"/>
                </a:solidFill>
                <a:latin typeface="Calibri"/>
              </a:defRPr>
            </a:pPr>
            <a:r>
              <a:t>From Validated Prototype to Enterprise Production Scale | Review IV Milestone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D9C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75504" cy="3931920"/>
          </a:xfrm>
          <a:prstGeom prst="roundRect">
            <a:avLst/>
          </a:prstGeom>
          <a:solidFill>
            <a:srgbClr val="28322F"/>
          </a:solidFill>
          <a:ln w="12700">
            <a:solidFill>
              <a:srgbClr val="D9C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01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C5B2"/>
                </a:solidFill>
                <a:latin typeface="Georgia"/>
              </a:defRPr>
            </a:pPr>
            <a:r>
              <a:t>Phase II Development Milestones (Review IV)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1. Automated SEC EDGAR Pipeline: </a:t>
            </a:r>
            <a:r>
              <a:rPr>
                <a:solidFill>
                  <a:srgbClr val="DCDCDC"/>
                </a:solidFill>
              </a:rPr>
              <a:t>Implement full XBRL and 10-K/10-Q multi-page PDF parsing to ingest verified enterprise filings automatically.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2. Small Language Model (SLM) Fine-Tuning: </a:t>
            </a:r>
            <a:r>
              <a:rPr>
                <a:solidFill>
                  <a:srgbClr val="DCDCDC"/>
                </a:solidFill>
              </a:rPr>
              <a:t>Fine-tune Mistral-7B / Llama-3-8B on domain financial corpus for ultra-low latency local agent inference.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3. Dynamic Scenario Simulation Engine: </a:t>
            </a:r>
            <a:r>
              <a:rPr>
                <a:solidFill>
                  <a:srgbClr val="DCDCDC"/>
                </a:solidFill>
              </a:rPr>
              <a:t>Enable interactive 'what-if' modeling (e.g. simulating a 200 bps interest rate hike or 15% revenue drop on opportunity viability).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4. Kubernetes Cloud Deployment: </a:t>
            </a:r>
            <a:r>
              <a:rPr>
                <a:solidFill>
                  <a:srgbClr val="DCDCDC"/>
                </a:solidFill>
              </a:rPr>
              <a:t>Containerize backend and vector services for horizontal pod autoscaling with enterprise SSO and RBAC controls.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45920"/>
            <a:ext cx="5175504" cy="3931920"/>
          </a:xfrm>
          <a:prstGeom prst="roundRect">
            <a:avLst/>
          </a:prstGeom>
          <a:solidFill>
            <a:srgbClr val="28322F"/>
          </a:solidFill>
          <a:ln w="12700">
            <a:solidFill>
              <a:srgbClr val="D9C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783080"/>
            <a:ext cx="490118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C5B2"/>
                </a:solidFill>
                <a:latin typeface="Georgia"/>
              </a:defRPr>
            </a:pPr>
            <a:r>
              <a:t>Summary of Capstone Contributions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Novel Strategic Paradigm: </a:t>
            </a:r>
            <a:r>
              <a:rPr>
                <a:solidFill>
                  <a:srgbClr val="DCDCDC"/>
                </a:solidFill>
              </a:rPr>
              <a:t>Shifted enterprise intelligence from passive backwards-looking reporting to actionable, quantified opportunity rates.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Deterministic Multi-Agent Rigor: </a:t>
            </a:r>
            <a:r>
              <a:rPr>
                <a:solidFill>
                  <a:srgbClr val="DCDCDC"/>
                </a:solidFill>
              </a:rPr>
              <a:t>Constructed a 5-agent LangGraph architecture with zero conversational deadlocks and sub-4s response latency.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Verified Academic Grounding: </a:t>
            </a:r>
            <a:r>
              <a:rPr>
                <a:solidFill>
                  <a:srgbClr val="DCDCDC"/>
                </a:solidFill>
              </a:rPr>
              <a:t>Achieved 94.8% groundedness and 100% guardrail defense across live multi-sector corporate evaluations.</a:t>
            </a:r>
          </a:p>
          <a:p>
            <a:pPr>
              <a:spcAft>
                <a:spcPts val="500"/>
              </a:spcAft>
              <a:defRPr sz="950"/>
            </a:pPr>
            <a:r>
              <a:rPr b="1">
                <a:solidFill>
                  <a:srgbClr val="FFFFFF"/>
                </a:solidFill>
              </a:rPr>
              <a:t>Complete Working Artifacts: </a:t>
            </a:r>
            <a:r>
              <a:rPr>
                <a:solidFill>
                  <a:srgbClr val="DCDCDC"/>
                </a:solidFill>
              </a:rPr>
              <a:t>Executable code, public GitHub repository, interactive dashboard, and PDF generation ready for panel inspection.</a:t>
            </a:r>
          </a:p>
          <a:p>
            <a:pPr>
              <a:spcBef>
                <a:spcPts val="800"/>
              </a:spcBef>
              <a:defRPr sz="1050" b="1">
                <a:solidFill>
                  <a:srgbClr val="D9C5B2"/>
                </a:solidFill>
              </a:defRPr>
            </a:pPr>
            <a:r>
              <a:t>Thank You. Open for Panel Questions &amp; Defense.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Guide: Dr. Sandhya | Team: Sanjna S, Akshara, Kshirja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D9C5B2"/>
                </a:solidFill>
                <a:latin typeface="Calibri"/>
              </a:defRPr>
            </a:pPr>
            <a:r>
              <a:t>AI-Powered Enterprise Opportunity-Intelligence &amp; Strategic Decision Support Platform | Review 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73952"/>
            <a:ext cx="1401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D9C5B2"/>
                </a:solidFill>
                <a:latin typeface="Calibri"/>
              </a:defRPr>
            </a:pPr>
            <a:r>
              <a:t>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3740</Words>
  <Application>Microsoft Office PowerPoint</Application>
  <PresentationFormat>Widescreen</PresentationFormat>
  <Paragraphs>317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Kshirja V</cp:lastModifiedBy>
  <cp:revision>2</cp:revision>
  <dcterms:created xsi:type="dcterms:W3CDTF">2013-01-27T09:14:16Z</dcterms:created>
  <dcterms:modified xsi:type="dcterms:W3CDTF">2026-09-15T05:45:14Z</dcterms:modified>
  <cp:category/>
</cp:coreProperties>
</file>